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1C7D-F304-40E3-A413-AD16DB7F93E9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5F4C2-7296-463E-9DE1-09588F1B9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148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1C7D-F304-40E3-A413-AD16DB7F93E9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5F4C2-7296-463E-9DE1-09588F1B9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204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1C7D-F304-40E3-A413-AD16DB7F93E9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5F4C2-7296-463E-9DE1-09588F1B9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600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1C7D-F304-40E3-A413-AD16DB7F93E9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5F4C2-7296-463E-9DE1-09588F1B9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857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1C7D-F304-40E3-A413-AD16DB7F93E9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5F4C2-7296-463E-9DE1-09588F1B9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360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1C7D-F304-40E3-A413-AD16DB7F93E9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5F4C2-7296-463E-9DE1-09588F1B9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45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1C7D-F304-40E3-A413-AD16DB7F93E9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5F4C2-7296-463E-9DE1-09588F1B9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1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1C7D-F304-40E3-A413-AD16DB7F93E9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5F4C2-7296-463E-9DE1-09588F1B9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4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1C7D-F304-40E3-A413-AD16DB7F93E9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5F4C2-7296-463E-9DE1-09588F1B9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038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1C7D-F304-40E3-A413-AD16DB7F93E9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5F4C2-7296-463E-9DE1-09588F1B9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883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1C7D-F304-40E3-A413-AD16DB7F93E9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5F4C2-7296-463E-9DE1-09588F1B978E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2859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1C7D-F304-40E3-A413-AD16DB7F93E9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5F4C2-7296-463E-9DE1-09588F1B9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15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1C7D-F304-40E3-A413-AD16DB7F93E9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5F4C2-7296-463E-9DE1-09588F1B978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8885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1C7D-F304-40E3-A413-AD16DB7F93E9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5F4C2-7296-463E-9DE1-09588F1B9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6480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1C7D-F304-40E3-A413-AD16DB7F93E9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5F4C2-7296-463E-9DE1-09588F1B9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307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1C7D-F304-40E3-A413-AD16DB7F93E9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5F4C2-7296-463E-9DE1-09588F1B9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863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11C7D-F304-40E3-A413-AD16DB7F93E9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5F4C2-7296-463E-9DE1-09588F1B9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739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auto_examples/cluster/plot_segmentation_toy.html" TargetMode="External"/><Relationship Id="rId2" Type="http://schemas.openxmlformats.org/officeDocument/2006/relationships/hyperlink" Target="https://people.eecs.berkeley.edu/~malik/papers/SM-ncut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679A8-49FA-F825-7A68-7F1B89033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5222" y="1887793"/>
            <a:ext cx="7766936" cy="2517004"/>
          </a:xfrm>
        </p:spPr>
        <p:txBody>
          <a:bodyPr/>
          <a:lstStyle/>
          <a:p>
            <a:pPr algn="ctr"/>
            <a:r>
              <a:rPr lang="en-US" sz="7200" dirty="0"/>
              <a:t>Machine Learning</a:t>
            </a:r>
            <a:br>
              <a:rPr lang="en-US" sz="7200" dirty="0"/>
            </a:br>
            <a:r>
              <a:rPr lang="en-US" sz="7200" dirty="0"/>
              <a:t>Clustering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2924823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7497E8B-E70A-5047-B7CF-AAF7AC661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375" y="3964781"/>
            <a:ext cx="3857625" cy="2893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955A7A-4AB7-D917-1EDD-02BC2949C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01" y="334297"/>
            <a:ext cx="8596668" cy="619432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222832"/>
                </a:solidFill>
                <a:effectLst/>
                <a:latin typeface="-apple-system"/>
              </a:rPr>
              <a:t>Affinity Propagation</a:t>
            </a:r>
            <a:br>
              <a:rPr lang="en-IN" b="0" i="0" dirty="0">
                <a:solidFill>
                  <a:srgbClr val="222832"/>
                </a:solidFill>
                <a:effectLst/>
                <a:latin typeface="-apple-system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1620E-0779-FFBF-A1CE-C2A011675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165" y="998817"/>
            <a:ext cx="9437909" cy="3880773"/>
          </a:xfrm>
        </p:spPr>
        <p:txBody>
          <a:bodyPr>
            <a:normAutofit fontScale="85000" lnSpcReduction="20000"/>
          </a:bodyPr>
          <a:lstStyle/>
          <a:p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Creates clusters by sending messages between pairs of samples until convergence.</a:t>
            </a:r>
          </a:p>
          <a:p>
            <a:r>
              <a:rPr lang="en-US" sz="2000" dirty="0">
                <a:solidFill>
                  <a:srgbClr val="222832"/>
                </a:solidFill>
                <a:latin typeface="-apple-system"/>
              </a:rPr>
              <a:t>A</a:t>
            </a:r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 small number of exemplars, which are identified as those most representative of other samples. </a:t>
            </a:r>
          </a:p>
          <a:p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The messages sent between pairs represent the suitability for one sample to be the exemplar of the other, which is updated in response to the values from other pairs. </a:t>
            </a:r>
          </a:p>
          <a:p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This updating happens iteratively until convergence, at which point the final exemplars are chosen, and hence the final clustering is given.</a:t>
            </a:r>
          </a:p>
          <a:p>
            <a:r>
              <a:rPr lang="en-US" sz="2000" dirty="0">
                <a:solidFill>
                  <a:srgbClr val="222832"/>
                </a:solidFill>
                <a:latin typeface="-apple-system"/>
              </a:rPr>
              <a:t>I</a:t>
            </a:r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t chooses the number of clusters based on the data provided.</a:t>
            </a:r>
          </a:p>
          <a:p>
            <a:r>
              <a:rPr lang="en-US" sz="2000" dirty="0">
                <a:solidFill>
                  <a:srgbClr val="222832"/>
                </a:solidFill>
                <a:latin typeface="-apple-system"/>
              </a:rPr>
              <a:t>T</a:t>
            </a:r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he two important parameters are </a:t>
            </a:r>
          </a:p>
          <a:p>
            <a:pPr lvl="1"/>
            <a:r>
              <a:rPr lang="en-US" sz="1800" b="1" i="1" dirty="0">
                <a:solidFill>
                  <a:srgbClr val="00B050"/>
                </a:solidFill>
                <a:effectLst/>
                <a:latin typeface="-apple-system"/>
              </a:rPr>
              <a:t>preference</a:t>
            </a:r>
            <a:r>
              <a:rPr lang="en-US" sz="1800" b="0" i="0" dirty="0">
                <a:solidFill>
                  <a:srgbClr val="222832"/>
                </a:solidFill>
                <a:effectLst/>
                <a:latin typeface="-apple-system"/>
              </a:rPr>
              <a:t>, which controls how many exemplars are used</a:t>
            </a:r>
          </a:p>
          <a:p>
            <a:pPr lvl="1"/>
            <a:r>
              <a:rPr lang="en-US" sz="1800" b="1" i="1" dirty="0">
                <a:solidFill>
                  <a:srgbClr val="00B050"/>
                </a:solidFill>
                <a:effectLst/>
                <a:latin typeface="-apple-system"/>
              </a:rPr>
              <a:t>damping</a:t>
            </a:r>
            <a:r>
              <a:rPr lang="en-US" sz="1800" b="0" i="1" dirty="0">
                <a:solidFill>
                  <a:srgbClr val="00B050"/>
                </a:solidFill>
                <a:effectLst/>
                <a:latin typeface="-apple-system"/>
              </a:rPr>
              <a:t> </a:t>
            </a:r>
            <a:r>
              <a:rPr lang="en-US" sz="1800" b="1" i="1" dirty="0">
                <a:solidFill>
                  <a:srgbClr val="00B050"/>
                </a:solidFill>
                <a:effectLst/>
                <a:latin typeface="-apple-system"/>
              </a:rPr>
              <a:t>factor</a:t>
            </a:r>
            <a:r>
              <a:rPr lang="en-US" sz="1800" b="0" i="0" dirty="0">
                <a:solidFill>
                  <a:srgbClr val="00B050"/>
                </a:solidFill>
                <a:effectLst/>
                <a:latin typeface="-apple-system"/>
              </a:rPr>
              <a:t> </a:t>
            </a:r>
            <a:r>
              <a:rPr lang="en-US" sz="1800" b="0" i="0" dirty="0">
                <a:solidFill>
                  <a:srgbClr val="222832"/>
                </a:solidFill>
                <a:effectLst/>
                <a:latin typeface="-apple-system"/>
              </a:rPr>
              <a:t>which damps the responsibility and availability messages to avoid numerical oscillations when updating these messages.</a:t>
            </a:r>
          </a:p>
          <a:p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Useful for small to medium sized datasets because of memory &amp;complexity </a:t>
            </a:r>
            <a:r>
              <a:rPr lang="en-IN" sz="2000" b="0" i="0" dirty="0">
                <a:solidFill>
                  <a:srgbClr val="222832"/>
                </a:solidFill>
                <a:effectLst/>
                <a:latin typeface="-apple-system"/>
              </a:rPr>
              <a:t>complexity of </a:t>
            </a:r>
          </a:p>
          <a:p>
            <a:pPr marL="0" indent="0">
              <a:buNone/>
            </a:pPr>
            <a:r>
              <a:rPr lang="en-IN" sz="2000" b="0" i="0" dirty="0">
                <a:solidFill>
                  <a:srgbClr val="222832"/>
                </a:solidFill>
                <a:effectLst/>
                <a:latin typeface="-apple-system"/>
              </a:rPr>
              <a:t>the order</a:t>
            </a:r>
            <a:endParaRPr lang="en-US" sz="2000" b="0" i="0" dirty="0">
              <a:solidFill>
                <a:srgbClr val="222832"/>
              </a:solidFill>
              <a:effectLst/>
              <a:latin typeface="-apple-system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D76A3E-0CB4-ED7E-FC17-F1BA3E146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605" y="5019766"/>
            <a:ext cx="6200859" cy="69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160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2DB03-1A86-763E-1783-1235A7682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6858732-CD78-D316-69F4-FC0DD3745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334375" y="3964782"/>
            <a:ext cx="3857625" cy="2893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450D5F-AF51-600C-F697-03CEB73A0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01" y="334297"/>
            <a:ext cx="8596668" cy="619432"/>
          </a:xfrm>
        </p:spPr>
        <p:txBody>
          <a:bodyPr>
            <a:normAutofit fontScale="90000"/>
          </a:bodyPr>
          <a:lstStyle/>
          <a:p>
            <a:pPr algn="l"/>
            <a:r>
              <a:rPr lang="en-IN" b="0" i="0" dirty="0">
                <a:solidFill>
                  <a:srgbClr val="222832"/>
                </a:solidFill>
                <a:effectLst/>
                <a:latin typeface="-apple-system"/>
              </a:rPr>
              <a:t>Mean Shift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E94AA-5892-79AA-8B4F-9E5128E03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166" y="998817"/>
            <a:ext cx="8568203" cy="3880773"/>
          </a:xfrm>
        </p:spPr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Centroid based algorithm, which works by updating candidates for centroids to be the mean of the points within a given region.</a:t>
            </a:r>
          </a:p>
          <a:p>
            <a:r>
              <a:rPr lang="en-US" sz="2000" dirty="0">
                <a:solidFill>
                  <a:srgbClr val="222832"/>
                </a:solidFill>
                <a:latin typeface="-apple-system"/>
              </a:rPr>
              <a:t>C</a:t>
            </a:r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andidates are then filtered in a post-processing stage to eliminate near-duplicates to form the final set of centroids.</a:t>
            </a:r>
          </a:p>
          <a:p>
            <a:r>
              <a:rPr lang="en-US" sz="2000" b="1" i="1" dirty="0">
                <a:solidFill>
                  <a:srgbClr val="222832"/>
                </a:solidFill>
                <a:effectLst/>
                <a:latin typeface="-apple-system"/>
              </a:rPr>
              <a:t>Automatically sets the number of clusters</a:t>
            </a:r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.</a:t>
            </a:r>
          </a:p>
          <a:p>
            <a:r>
              <a:rPr lang="en-US" sz="2000" b="1" i="1" dirty="0">
                <a:solidFill>
                  <a:srgbClr val="222832"/>
                </a:solidFill>
                <a:effectLst/>
                <a:latin typeface="-apple-system"/>
              </a:rPr>
              <a:t>Bandwidth</a:t>
            </a:r>
            <a:r>
              <a:rPr lang="en-US" sz="2000" dirty="0">
                <a:solidFill>
                  <a:srgbClr val="222832"/>
                </a:solidFill>
                <a:latin typeface="-apple-system"/>
              </a:rPr>
              <a:t> </a:t>
            </a:r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dictates the size of the region to search through.</a:t>
            </a:r>
          </a:p>
          <a:p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It is not highly scalable, as it requires multiple nearest neighbor searches during the execution</a:t>
            </a:r>
          </a:p>
          <a:p>
            <a:r>
              <a:rPr lang="en-IN" sz="2000" b="0" i="0" dirty="0">
                <a:solidFill>
                  <a:srgbClr val="222832"/>
                </a:solidFill>
                <a:effectLst/>
                <a:latin typeface="-apple-system"/>
              </a:rPr>
              <a:t>It </a:t>
            </a:r>
            <a:r>
              <a:rPr lang="en-IN" sz="2000" dirty="0">
                <a:solidFill>
                  <a:srgbClr val="222832"/>
                </a:solidFill>
                <a:latin typeface="-apple-system"/>
              </a:rPr>
              <a:t>c</a:t>
            </a:r>
            <a:r>
              <a:rPr lang="en-IN" sz="2000" b="0" i="0" dirty="0">
                <a:solidFill>
                  <a:srgbClr val="222832"/>
                </a:solidFill>
                <a:effectLst/>
                <a:latin typeface="-apple-system"/>
              </a:rPr>
              <a:t>onverges but this algorithm</a:t>
            </a:r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 will stop iterating when the change in centroids is small.</a:t>
            </a:r>
          </a:p>
          <a:p>
            <a:endParaRPr lang="en-US" sz="2000" b="0" i="0" dirty="0">
              <a:solidFill>
                <a:srgbClr val="222832"/>
              </a:solidFill>
              <a:effectLst/>
              <a:latin typeface="-apple-system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76B639-1452-AED6-7DF8-08B292B13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980" y="5365405"/>
            <a:ext cx="6200859" cy="78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838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7DF09-BA2D-9DC5-3A16-F99C87E6F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AE1F6-55E5-9C58-B73C-AC33C7BDF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01" y="334297"/>
            <a:ext cx="8596668" cy="619432"/>
          </a:xfrm>
        </p:spPr>
        <p:txBody>
          <a:bodyPr>
            <a:normAutofit fontScale="90000"/>
          </a:bodyPr>
          <a:lstStyle/>
          <a:p>
            <a:pPr algn="l"/>
            <a:r>
              <a:rPr lang="en-IN" b="0" i="0" dirty="0">
                <a:solidFill>
                  <a:srgbClr val="222832"/>
                </a:solidFill>
                <a:effectLst/>
                <a:latin typeface="-apple-system"/>
              </a:rPr>
              <a:t>Spectral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86474-80E4-252C-817B-6A0B7A27E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166" y="998817"/>
            <a:ext cx="9238610" cy="3880773"/>
          </a:xfrm>
        </p:spPr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It performs a </a:t>
            </a:r>
            <a:r>
              <a:rPr lang="en-US" sz="2000" b="1" i="1" dirty="0">
                <a:solidFill>
                  <a:srgbClr val="222832"/>
                </a:solidFill>
                <a:effectLst/>
                <a:latin typeface="-apple-system"/>
              </a:rPr>
              <a:t>low-dimension embedding </a:t>
            </a:r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of the affinity matrix between samples, followed by clustering.</a:t>
            </a:r>
          </a:p>
          <a:p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Spectral Clustering requires </a:t>
            </a:r>
            <a:r>
              <a:rPr lang="en-US" sz="2000" b="1" i="1" dirty="0">
                <a:solidFill>
                  <a:srgbClr val="222832"/>
                </a:solidFill>
                <a:effectLst/>
                <a:latin typeface="-apple-system"/>
              </a:rPr>
              <a:t>the number of clusters to be specified in advance</a:t>
            </a:r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. </a:t>
            </a:r>
          </a:p>
          <a:p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It works well for a small number of clusters, but is not advised for many clusters.</a:t>
            </a:r>
          </a:p>
          <a:p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For two clusters, Spectral Clustering solves a convex relaxation of the </a:t>
            </a:r>
            <a:r>
              <a:rPr lang="en-US" sz="2000" b="0" i="0" dirty="0">
                <a:effectLst/>
                <a:latin typeface="-apple-system"/>
                <a:hlinkClick r:id="rId2"/>
              </a:rPr>
              <a:t>normalized cuts</a:t>
            </a:r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 problem on the similarity graph. (cutting the graph in two so that the weight of the edges cut is small compared to the weights of the edges inside each cluster.)</a:t>
            </a:r>
          </a:p>
          <a:p>
            <a:endParaRPr lang="en-US" sz="2000" b="0" i="0" dirty="0">
              <a:solidFill>
                <a:srgbClr val="222832"/>
              </a:solidFill>
              <a:effectLst/>
              <a:latin typeface="-apple-system"/>
            </a:endParaRPr>
          </a:p>
        </p:txBody>
      </p:sp>
      <p:pic>
        <p:nvPicPr>
          <p:cNvPr id="3077" name="Picture 5" descr="noisy_img">
            <a:hlinkClick r:id="rId3"/>
            <a:extLst>
              <a:ext uri="{FF2B5EF4-FFF2-40B4-BE49-F238E27FC236}">
                <a16:creationId xmlns:a16="http://schemas.microsoft.com/office/drawing/2014/main" id="{16E237D3-AB8B-EB3F-A87C-E54E3ADDB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646" y="3541752"/>
            <a:ext cx="4919358" cy="2459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segmented_img">
            <a:hlinkClick r:id="rId3"/>
            <a:extLst>
              <a:ext uri="{FF2B5EF4-FFF2-40B4-BE49-F238E27FC236}">
                <a16:creationId xmlns:a16="http://schemas.microsoft.com/office/drawing/2014/main" id="{68EF6A23-D8DF-98E1-9E48-47E208D0A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571" y="3649750"/>
            <a:ext cx="4919358" cy="2459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0B9E71-B938-F93B-4D43-F1955FAB53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766" y="5960543"/>
            <a:ext cx="8378987" cy="62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369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25AE4-55BD-687B-FF4F-5A265ABBE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87E393B-DAB3-D37B-5ECD-44142A92B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334375" y="3964782"/>
            <a:ext cx="3857624" cy="2893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567A78-D6A6-F128-7F03-922B33108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01" y="334297"/>
            <a:ext cx="8596668" cy="619432"/>
          </a:xfrm>
        </p:spPr>
        <p:txBody>
          <a:bodyPr>
            <a:normAutofit fontScale="90000"/>
          </a:bodyPr>
          <a:lstStyle/>
          <a:p>
            <a:pPr algn="l"/>
            <a:r>
              <a:rPr lang="en-IN" b="0" i="0" dirty="0">
                <a:solidFill>
                  <a:srgbClr val="222832"/>
                </a:solidFill>
                <a:effectLst/>
                <a:latin typeface="-apple-system"/>
              </a:rPr>
              <a:t>DBSCAN </a:t>
            </a:r>
            <a:r>
              <a:rPr lang="en-IN" sz="2200" b="0" i="0" dirty="0">
                <a:solidFill>
                  <a:srgbClr val="222832"/>
                </a:solidFill>
                <a:effectLst/>
                <a:latin typeface="-apple-system"/>
              </a:rPr>
              <a:t>(</a:t>
            </a:r>
            <a:r>
              <a:rPr lang="en-US" sz="2200" b="1" i="0" dirty="0">
                <a:solidFill>
                  <a:srgbClr val="273239"/>
                </a:solidFill>
                <a:effectLst/>
                <a:latin typeface="Source Sans 3"/>
              </a:rPr>
              <a:t>Density-Based Spatial Clustering of Applications with Noise)</a:t>
            </a:r>
            <a:br>
              <a:rPr lang="en-US" sz="2200" b="1" i="0" dirty="0">
                <a:solidFill>
                  <a:srgbClr val="273239"/>
                </a:solidFill>
                <a:effectLst/>
                <a:latin typeface="Source Sans 3"/>
              </a:rPr>
            </a:br>
            <a:endParaRPr lang="en-IN" b="0" i="0" dirty="0">
              <a:solidFill>
                <a:srgbClr val="222832"/>
              </a:solidFill>
              <a:effectLst/>
              <a:latin typeface="-apple-system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3107C-5169-C29B-B4C4-E1F4BD720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166" y="998818"/>
            <a:ext cx="7943209" cy="3792258"/>
          </a:xfrm>
        </p:spPr>
        <p:txBody>
          <a:bodyPr>
            <a:noAutofit/>
          </a:bodyPr>
          <a:lstStyle/>
          <a:p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The DBSCAN algorithm views clusters as </a:t>
            </a:r>
            <a:r>
              <a:rPr lang="en-US" sz="2000" b="1" i="1" dirty="0">
                <a:solidFill>
                  <a:srgbClr val="222832"/>
                </a:solidFill>
                <a:effectLst/>
                <a:latin typeface="-apple-system"/>
              </a:rPr>
              <a:t>areas of high density separated by areas of low density.</a:t>
            </a:r>
          </a:p>
          <a:p>
            <a:r>
              <a:rPr lang="en-US" sz="2000" dirty="0">
                <a:solidFill>
                  <a:srgbClr val="222832"/>
                </a:solidFill>
                <a:latin typeface="-apple-system"/>
              </a:rPr>
              <a:t>C</a:t>
            </a:r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lusters found by DBSCAN can be any shape, as opposed to k-means which assumes that clusters are convex shaped.</a:t>
            </a:r>
          </a:p>
          <a:p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The central component to the DBSCAN is the concept of </a:t>
            </a:r>
            <a:r>
              <a:rPr lang="en-US" sz="2000" b="1" i="1" dirty="0">
                <a:solidFill>
                  <a:srgbClr val="222832"/>
                </a:solidFill>
                <a:effectLst/>
                <a:latin typeface="-apple-system"/>
              </a:rPr>
              <a:t>core samples</a:t>
            </a:r>
            <a:r>
              <a:rPr lang="en-US" sz="2000" b="0" i="1" dirty="0">
                <a:solidFill>
                  <a:srgbClr val="222832"/>
                </a:solidFill>
                <a:effectLst/>
                <a:latin typeface="-apple-system"/>
              </a:rPr>
              <a:t>(samples </a:t>
            </a:r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in areas of high density). A cluster is therefore a set of core samples, each close to each other (measured by some distance measure) and a set of non-core samples that are close to a core sample (but are not themselves core samples).</a:t>
            </a:r>
          </a:p>
          <a:p>
            <a:r>
              <a:rPr lang="en-US" sz="2000" dirty="0">
                <a:solidFill>
                  <a:srgbClr val="222832"/>
                </a:solidFill>
                <a:latin typeface="-apple-system"/>
              </a:rPr>
              <a:t>T</a:t>
            </a:r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wo important parameters are, </a:t>
            </a:r>
            <a:r>
              <a:rPr lang="en-US" sz="2000" b="0" i="0" dirty="0" err="1">
                <a:solidFill>
                  <a:srgbClr val="222832"/>
                </a:solidFill>
                <a:effectLst/>
                <a:latin typeface="-apple-system"/>
              </a:rPr>
              <a:t>min_samples</a:t>
            </a:r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 and eps, which define formally what we mean when we say dense. </a:t>
            </a:r>
          </a:p>
          <a:p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Higher </a:t>
            </a:r>
            <a:r>
              <a:rPr lang="en-US" sz="2000" b="0" i="0" dirty="0" err="1">
                <a:solidFill>
                  <a:srgbClr val="222832"/>
                </a:solidFill>
                <a:effectLst/>
                <a:latin typeface="-apple-system"/>
              </a:rPr>
              <a:t>min_samples</a:t>
            </a:r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 or lower eps indicate higher density necessary to form a cluster.</a:t>
            </a:r>
          </a:p>
          <a:p>
            <a:endParaRPr lang="en-US" sz="2000" b="0" i="0" dirty="0">
              <a:solidFill>
                <a:srgbClr val="222832"/>
              </a:solidFill>
              <a:effectLst/>
              <a:latin typeface="-apple-syste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4ED1A0-5590-43CF-EE5D-D2CFDD9E3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393" y="5790535"/>
            <a:ext cx="5015807" cy="84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97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016B4-0076-3175-939B-2C409F4FD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7D22E93-9356-32EA-B321-C49F72D92A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" r="1976" b="1"/>
          <a:stretch/>
        </p:blipFill>
        <p:spPr bwMode="auto">
          <a:xfrm>
            <a:off x="8410576" y="4232748"/>
            <a:ext cx="3781424" cy="262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9BB171-153E-8FDA-8052-D1704D3CC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01" y="334297"/>
            <a:ext cx="8596668" cy="619432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222832"/>
                </a:solidFill>
                <a:effectLst/>
                <a:latin typeface="-apple-system"/>
              </a:rPr>
              <a:t>HDBSCAN</a:t>
            </a:r>
            <a:r>
              <a:rPr lang="en-IN" dirty="0">
                <a:solidFill>
                  <a:srgbClr val="222832"/>
                </a:solidFill>
                <a:latin typeface="-apple-system"/>
              </a:rPr>
              <a:t> </a:t>
            </a:r>
            <a:r>
              <a:rPr lang="en-US" sz="1800" b="1" i="0" dirty="0">
                <a:solidFill>
                  <a:srgbClr val="273239"/>
                </a:solidFill>
                <a:effectLst/>
                <a:latin typeface="Source Sans 3"/>
              </a:rPr>
              <a:t>(Hierarchical Density-Based Spatial Clustering of Applications with Noise)</a:t>
            </a:r>
            <a:br>
              <a:rPr lang="en-US" b="1" i="0" dirty="0">
                <a:solidFill>
                  <a:srgbClr val="273239"/>
                </a:solidFill>
                <a:effectLst/>
                <a:latin typeface="Source Sans 3"/>
              </a:rPr>
            </a:br>
            <a:endParaRPr lang="en-IN" b="0" i="0" dirty="0">
              <a:solidFill>
                <a:srgbClr val="222832"/>
              </a:solidFill>
              <a:effectLst/>
              <a:latin typeface="-apple-system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CC74D-52E1-AFA8-A270-7B86B3D7B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166" y="998818"/>
            <a:ext cx="8133710" cy="3792258"/>
          </a:xfrm>
        </p:spPr>
        <p:txBody>
          <a:bodyPr>
            <a:noAutofit/>
          </a:bodyPr>
          <a:lstStyle/>
          <a:p>
            <a:r>
              <a:rPr lang="en-US" sz="2000" b="0" i="0" dirty="0">
                <a:solidFill>
                  <a:srgbClr val="222832"/>
                </a:solidFill>
                <a:effectLst/>
                <a:latin typeface="-apple-system"/>
              </a:rPr>
              <a:t>The HDBSCAN algorithm can be seen as an extension of DBSCAN and OPTICS.</a:t>
            </a:r>
          </a:p>
          <a:p>
            <a:r>
              <a:rPr lang="en-US" sz="2000" dirty="0">
                <a:solidFill>
                  <a:srgbClr val="222832"/>
                </a:solidFill>
                <a:latin typeface="-apple-system"/>
              </a:rPr>
              <a:t>DBSCAN assumes that the clustering criterion (i.e. density requirement) is globally homogeneous. In other words, DBSCAN may struggle to successfully capture clusters with different densities. </a:t>
            </a:r>
          </a:p>
          <a:p>
            <a:r>
              <a:rPr lang="en-US" sz="2000" dirty="0">
                <a:solidFill>
                  <a:srgbClr val="222832"/>
                </a:solidFill>
                <a:latin typeface="-apple-system"/>
              </a:rPr>
              <a:t>HDBSCAN alleviates this assumption and explores all possible density scales by building an alternative representation of the clustering problem.</a:t>
            </a:r>
          </a:p>
          <a:p>
            <a:r>
              <a:rPr lang="en-US" sz="2000" dirty="0">
                <a:solidFill>
                  <a:srgbClr val="222832"/>
                </a:solidFill>
                <a:latin typeface="-apple-system"/>
              </a:rPr>
              <a:t>HDBSAN examines the density of the data points in the dataset. It starts by calculating a density-based clustering hierarchy, which creates clusters from densely connected data points. This hierarchical structure enables the recognition of clusters of various shapes and sizes.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ECFACB-3FB7-F6C8-B856-47C0C4759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3351" y="5206111"/>
            <a:ext cx="3526269" cy="67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860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72634-7FBA-938C-40CE-27C2A7B99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E038-BBA5-CF84-084B-C668AA9C7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01" y="334297"/>
            <a:ext cx="8596668" cy="619432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222832"/>
                </a:solidFill>
                <a:effectLst/>
                <a:latin typeface="-apple-system"/>
              </a:rPr>
              <a:t>OPTICS</a:t>
            </a:r>
            <a:r>
              <a:rPr lang="en-IN" dirty="0">
                <a:solidFill>
                  <a:srgbClr val="222832"/>
                </a:solidFill>
                <a:latin typeface="-apple-system"/>
              </a:rPr>
              <a:t> </a:t>
            </a:r>
            <a:r>
              <a:rPr lang="en-US" sz="1800" b="1" i="0" dirty="0">
                <a:solidFill>
                  <a:srgbClr val="273239"/>
                </a:solidFill>
                <a:effectLst/>
                <a:latin typeface="Source Sans 3"/>
              </a:rPr>
              <a:t>(Ordering Points To Identify the Clustering Structure)</a:t>
            </a:r>
            <a:br>
              <a:rPr lang="en-US" b="1" i="0" dirty="0">
                <a:solidFill>
                  <a:srgbClr val="273239"/>
                </a:solidFill>
                <a:effectLst/>
                <a:latin typeface="Source Sans 3"/>
              </a:rPr>
            </a:br>
            <a:endParaRPr lang="en-IN" b="0" i="0" dirty="0">
              <a:solidFill>
                <a:srgbClr val="222832"/>
              </a:solidFill>
              <a:effectLst/>
              <a:latin typeface="-apple-system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6AA8C-DE36-809A-BED0-F2767C2FF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165" y="998818"/>
            <a:ext cx="9314809" cy="3792258"/>
          </a:xfrm>
        </p:spPr>
        <p:txBody>
          <a:bodyPr>
            <a:noAutofit/>
          </a:bodyPr>
          <a:lstStyle/>
          <a:p>
            <a:r>
              <a:rPr lang="en-US" sz="1600" b="0" i="0" dirty="0">
                <a:solidFill>
                  <a:srgbClr val="222832"/>
                </a:solidFill>
                <a:effectLst/>
                <a:latin typeface="-apple-system"/>
              </a:rPr>
              <a:t>It is a generalization of DBSCAN that relaxes the eps requirement from a single value to a value range.</a:t>
            </a:r>
          </a:p>
          <a:p>
            <a:r>
              <a:rPr lang="en-US" sz="1600" dirty="0">
                <a:solidFill>
                  <a:srgbClr val="222832"/>
                </a:solidFill>
                <a:latin typeface="-apple-system"/>
              </a:rPr>
              <a:t>I</a:t>
            </a:r>
            <a:r>
              <a:rPr lang="en-US" sz="1600" b="0" i="0" dirty="0">
                <a:solidFill>
                  <a:srgbClr val="222832"/>
                </a:solidFill>
                <a:effectLst/>
                <a:latin typeface="-apple-system"/>
              </a:rPr>
              <a:t>t also produces a cluster ordering that can be used to identify the density-based clusters at multiple levels of granularity.</a:t>
            </a:r>
          </a:p>
          <a:p>
            <a:r>
              <a:rPr lang="en-US" sz="1600" dirty="0">
                <a:solidFill>
                  <a:srgbClr val="222832"/>
                </a:solidFill>
                <a:latin typeface="-apple-system"/>
              </a:rPr>
              <a:t>OPTICS algorithm builds a reachability graph, which assigns each sample both a reachability_ distance, and a spot within the cluster ordering_ attribute. </a:t>
            </a:r>
          </a:p>
          <a:p>
            <a:r>
              <a:rPr lang="en-US" sz="1600" b="0" i="0" dirty="0">
                <a:solidFill>
                  <a:srgbClr val="222832"/>
                </a:solidFill>
                <a:effectLst/>
                <a:latin typeface="-apple-system"/>
              </a:rPr>
              <a:t>The </a:t>
            </a:r>
            <a:r>
              <a:rPr lang="en-US" sz="1600" b="0" i="1" dirty="0">
                <a:solidFill>
                  <a:srgbClr val="222832"/>
                </a:solidFill>
                <a:effectLst/>
                <a:latin typeface="-apple-system"/>
              </a:rPr>
              <a:t>reachability</a:t>
            </a:r>
            <a:r>
              <a:rPr lang="en-US" sz="1600" b="0" i="0" dirty="0">
                <a:solidFill>
                  <a:srgbClr val="222832"/>
                </a:solidFill>
                <a:effectLst/>
                <a:latin typeface="-apple-system"/>
              </a:rPr>
              <a:t> distances generated by OPTICS allow for variable density extraction of clusters within a single data set</a:t>
            </a:r>
            <a:r>
              <a:rPr lang="en-US" sz="1600" dirty="0">
                <a:solidFill>
                  <a:srgbClr val="222832"/>
                </a:solidFill>
                <a:latin typeface="-apple-system"/>
              </a:rPr>
              <a:t>. </a:t>
            </a:r>
            <a:r>
              <a:rPr lang="en-US" sz="1600" b="0" i="0" dirty="0">
                <a:solidFill>
                  <a:srgbClr val="222832"/>
                </a:solidFill>
                <a:effectLst/>
                <a:latin typeface="-apple-system"/>
              </a:rPr>
              <a:t>Setting </a:t>
            </a:r>
            <a:r>
              <a:rPr lang="en-US" sz="1600" b="0" i="0" dirty="0" err="1">
                <a:solidFill>
                  <a:srgbClr val="222832"/>
                </a:solidFill>
                <a:effectLst/>
                <a:latin typeface="-apple-system"/>
              </a:rPr>
              <a:t>max_eps</a:t>
            </a:r>
            <a:r>
              <a:rPr lang="en-US" sz="1600" b="0" i="0" dirty="0">
                <a:solidFill>
                  <a:srgbClr val="222832"/>
                </a:solidFill>
                <a:effectLst/>
                <a:latin typeface="-apple-system"/>
              </a:rPr>
              <a:t> to a lower value will result in shorter run times, and can be thought of as the maximum neighborhood radius from each point to find other potential reachable points.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D7A23A-9ADE-712E-0E0E-5F5A96CB1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180" y="3590867"/>
            <a:ext cx="7215845" cy="24004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DCF543-2DE4-F475-A44F-DCB9FDABD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7040" y="4052012"/>
            <a:ext cx="2634960" cy="28064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CC5B9E-5562-2E78-546B-8042947AA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997" y="6195785"/>
            <a:ext cx="3156377" cy="61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057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67DB7-0AE4-5485-E5CF-8DB6EA0C5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0FED6-CE88-F1D2-C784-C8C74DA0C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01" y="334297"/>
            <a:ext cx="8596668" cy="619432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222832"/>
                </a:solidFill>
                <a:effectLst/>
                <a:latin typeface="-apple-system"/>
              </a:rPr>
              <a:t>BIRCH</a:t>
            </a:r>
            <a:r>
              <a:rPr lang="en-IN" dirty="0">
                <a:solidFill>
                  <a:srgbClr val="222832"/>
                </a:solidFill>
                <a:latin typeface="-apple-system"/>
              </a:rPr>
              <a:t> </a:t>
            </a:r>
            <a:r>
              <a:rPr lang="en-US" sz="1800" b="1" i="0" dirty="0">
                <a:solidFill>
                  <a:srgbClr val="273239"/>
                </a:solidFill>
                <a:effectLst/>
                <a:latin typeface="Source Sans 3"/>
              </a:rPr>
              <a:t>(Balanced Iterative Reducing and Clustering using Hierarchies)</a:t>
            </a:r>
            <a:br>
              <a:rPr lang="en-US" b="1" i="0" dirty="0">
                <a:solidFill>
                  <a:srgbClr val="273239"/>
                </a:solidFill>
                <a:effectLst/>
                <a:latin typeface="Source Sans 3"/>
              </a:rPr>
            </a:br>
            <a:endParaRPr lang="en-IN" b="0" i="0" dirty="0">
              <a:solidFill>
                <a:srgbClr val="222832"/>
              </a:solidFill>
              <a:effectLst/>
              <a:latin typeface="-apple-system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25EBB-BEC8-E135-A190-BB750F36F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166" y="998818"/>
            <a:ext cx="8133710" cy="3792258"/>
          </a:xfrm>
        </p:spPr>
        <p:txBody>
          <a:bodyPr>
            <a:noAutofit/>
          </a:bodyPr>
          <a:lstStyle/>
          <a:p>
            <a:r>
              <a:rPr lang="en-US" b="0" i="0" dirty="0">
                <a:solidFill>
                  <a:srgbClr val="222832"/>
                </a:solidFill>
                <a:effectLst/>
                <a:latin typeface="-apple-system"/>
              </a:rPr>
              <a:t>It builds a tree called the Clustering Feature Tree (CFT).</a:t>
            </a:r>
          </a:p>
          <a:p>
            <a:r>
              <a:rPr lang="en-US" b="0" i="0" dirty="0">
                <a:solidFill>
                  <a:srgbClr val="222832"/>
                </a:solidFill>
                <a:effectLst/>
                <a:latin typeface="-apple-system"/>
              </a:rPr>
              <a:t>The data is essentially lossy compressed to a set of Clustering Feature nodes (CF Nodes). The CF Nodes have a number of subclusters called Clustering Feature subclusters (CF Subclusters) and these CF Subclusters located in the non-terminal CF Nodes can have CF Nodes as children</a:t>
            </a:r>
            <a:r>
              <a:rPr lang="en-US" dirty="0">
                <a:solidFill>
                  <a:srgbClr val="222832"/>
                </a:solidFill>
                <a:latin typeface="-apple-system"/>
              </a:rPr>
              <a:t>. </a:t>
            </a:r>
          </a:p>
          <a:p>
            <a:r>
              <a:rPr lang="en-US" b="0" i="0" dirty="0">
                <a:solidFill>
                  <a:srgbClr val="222832"/>
                </a:solidFill>
                <a:effectLst/>
                <a:latin typeface="-apple-system"/>
              </a:rPr>
              <a:t>The BIRCH algorithm has two parameters, the threshold and the branching factor. </a:t>
            </a:r>
          </a:p>
          <a:p>
            <a:r>
              <a:rPr lang="en-US" b="0" i="0" dirty="0">
                <a:solidFill>
                  <a:srgbClr val="222832"/>
                </a:solidFill>
                <a:effectLst/>
                <a:latin typeface="-apple-system"/>
              </a:rPr>
              <a:t>The branching factor limits the number of subclusters in a node and the threshold limits the distance between the entering sample and the existing subclusters.</a:t>
            </a:r>
          </a:p>
        </p:txBody>
      </p:sp>
      <p:pic>
        <p:nvPicPr>
          <p:cNvPr id="7170" name="Picture 2" descr="Machine Learning: BIRCH Clustering Algorithm Clearly Explained | Cory  Maklin's Blog">
            <a:extLst>
              <a:ext uri="{FF2B5EF4-FFF2-40B4-BE49-F238E27FC236}">
                <a16:creationId xmlns:a16="http://schemas.microsoft.com/office/drawing/2014/main" id="{A199ACE6-976C-B2DB-25F9-4293917EE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3699" y="4391024"/>
            <a:ext cx="2855295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E248E21-3059-F366-4CF6-1241BCD3E76B}"/>
              </a:ext>
            </a:extLst>
          </p:cNvPr>
          <p:cNvGrpSpPr/>
          <p:nvPr/>
        </p:nvGrpSpPr>
        <p:grpSpPr>
          <a:xfrm>
            <a:off x="674759" y="3561502"/>
            <a:ext cx="3986276" cy="3209362"/>
            <a:chOff x="674759" y="3561502"/>
            <a:chExt cx="3986276" cy="3209362"/>
          </a:xfrm>
        </p:grpSpPr>
        <p:pic>
          <p:nvPicPr>
            <p:cNvPr id="7172" name="Picture 4" descr="BIRCH in Data Mining - Tpoint Tech">
              <a:extLst>
                <a:ext uri="{FF2B5EF4-FFF2-40B4-BE49-F238E27FC236}">
                  <a16:creationId xmlns:a16="http://schemas.microsoft.com/office/drawing/2014/main" id="{D640D85E-BD64-F35D-1845-9B5562B3C52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323"/>
            <a:stretch/>
          </p:blipFill>
          <p:spPr bwMode="auto">
            <a:xfrm>
              <a:off x="674759" y="3713340"/>
              <a:ext cx="3986276" cy="30575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D58045E-407E-6A77-B90D-9F6C3A5EDB7C}"/>
                </a:ext>
              </a:extLst>
            </p:cNvPr>
            <p:cNvSpPr/>
            <p:nvPr/>
          </p:nvSpPr>
          <p:spPr>
            <a:xfrm>
              <a:off x="2210696" y="3561502"/>
              <a:ext cx="989704" cy="3818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F399A09-17E2-33EC-5378-DDE34CC9A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195" y="4619929"/>
            <a:ext cx="3905257" cy="78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31227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145</TotalTime>
  <Words>860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-apple-system</vt:lpstr>
      <vt:lpstr>Arial</vt:lpstr>
      <vt:lpstr>Source Sans 3</vt:lpstr>
      <vt:lpstr>Trebuchet MS</vt:lpstr>
      <vt:lpstr>Wingdings 3</vt:lpstr>
      <vt:lpstr>Facet</vt:lpstr>
      <vt:lpstr>Machine Learning Clustering</vt:lpstr>
      <vt:lpstr>Affinity Propagation </vt:lpstr>
      <vt:lpstr>Mean Shift</vt:lpstr>
      <vt:lpstr>Spectral clustering</vt:lpstr>
      <vt:lpstr>DBSCAN (Density-Based Spatial Clustering of Applications with Noise) </vt:lpstr>
      <vt:lpstr>HDBSCAN (Hierarchical Density-Based Spatial Clustering of Applications with Noise) </vt:lpstr>
      <vt:lpstr>OPTICS (Ordering Points To Identify the Clustering Structure) </vt:lpstr>
      <vt:lpstr>BIRCH (Balanced Iterative Reducing and Clustering using Hierarchies)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 Joseph</dc:creator>
  <cp:lastModifiedBy>Arun Joseph</cp:lastModifiedBy>
  <cp:revision>12</cp:revision>
  <dcterms:created xsi:type="dcterms:W3CDTF">2025-03-15T15:51:16Z</dcterms:created>
  <dcterms:modified xsi:type="dcterms:W3CDTF">2025-03-16T06:42:46Z</dcterms:modified>
</cp:coreProperties>
</file>